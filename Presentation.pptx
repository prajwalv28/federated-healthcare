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66" r:id="rId5"/>
    <p:sldId id="263" r:id="rId6"/>
    <p:sldId id="264" r:id="rId7"/>
    <p:sldId id="256" r:id="rId8"/>
    <p:sldId id="265" r:id="rId9"/>
    <p:sldId id="257" r:id="rId10"/>
    <p:sldId id="258" r:id="rId11"/>
    <p:sldId id="259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30" d="100"/>
          <a:sy n="130" d="100"/>
        </p:scale>
        <p:origin x="424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5629-9357-26D6-598D-40F7E6AB7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4B273-50F4-FFDA-3860-1B4DD15F4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842A6-C658-C85E-9F4F-E9F130F2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2A787-BD09-5411-0AA8-24ED4986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8531A-EEA6-25E8-E7F1-D30A3810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7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137C-56F4-ABA6-5F3A-011A6347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4700-FA76-00C5-1553-45372330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B5DDF-DD34-D440-A293-9A8553FE6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3032-37C0-244D-C037-A495591A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203FC-B78A-5D90-7C09-3DD5BE42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6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65DA-EDD4-6C1E-32FB-168564134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68F5-A651-0F4C-D0A3-9932E565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51CD5-F651-7845-5697-14A576D8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8048-49EE-9730-FDF6-3B3F19F8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40AD3-F83F-C33F-34CB-465C85A9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4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A799-E030-1654-8DB6-EA391C60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5FE68-FD0D-1928-53C5-A2FF0446C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E7884-FD9C-AD42-F0A9-B6E095DC4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C22B9-2A0F-1727-F5FA-A3243422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DF704-85D4-CDA1-8350-CD5C961D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38602-73AB-5231-5B6E-BB0DE504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8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4921-2055-C3DD-BC5C-D5924E71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1E6C8-7964-63FB-4A20-9F5B49BEB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489C9-A8B5-E77D-8B90-42C5EAE9C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828EA-46F4-E764-B25C-C68057988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3C1F7-F65F-84BE-A291-04349540B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1B712-A808-9522-47FA-199CD211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A39CD-C52A-1C43-BFAF-A1C83572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1BFCD-2421-2B4D-C382-D9540EA4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2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E6BD-D204-8A1D-A337-5A6BA33B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DAD45-AD28-3ACC-19EC-17B4DACB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5CFFD-130E-6111-07C4-1D65CF59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68853-900F-C2F4-5BA4-A85B382C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1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D1948-7743-14C2-1B97-235CB9F4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89209-2A14-5B73-8E20-3FE9596F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29338-8D30-EC68-024D-0C2DD1264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26DF-1ABF-06EB-895A-0B56ED2A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DA6A4-09F9-3F0C-7A02-5072F8ADB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D5348-08ED-6583-8EFC-65A3E90C6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CE1A2-855A-625C-C566-5B09B74D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17E61-F521-C4E9-54FE-236CC1C8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B9AF9-62FB-257B-F9D2-0D8F038C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85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259D-BA39-C5E4-06D6-D889ECCA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B7CAF-059C-C7BE-40E5-AB8C9AED5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A32C8-AF15-F499-4401-1A665C577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1FADC-D806-CC42-4EB7-A6624526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B3A88-B832-16CB-076B-59040A39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8BD9B-FCE5-F00D-ACBD-127E86E10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9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875A-13D0-59B6-0E0F-F5869312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AB184-D4B2-EF09-A6C6-4D92B9C1A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CAD5D-03A4-4C97-FE11-0852AE4E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0B3C6-2A44-8452-EFCF-5EBC78273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BA096-62F9-36B7-93F2-92ED99F7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8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707B2-FED6-6219-CCE7-5877885B8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95C63-697E-207A-E146-8FCCF4529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E7C02-712E-A5F7-6AAB-EC9F37E1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E1D8B-0462-D179-28D8-9BE59BB4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C20B5-9BFE-7DCE-BF3E-CA1A2EAC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5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B013D-29FE-A944-49EB-730B4B534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4C486-77B2-F043-D6A4-09C6DFB3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F9C80-257C-9874-1548-FA7D69F28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3E540-E53B-6E48-B195-D5897D0DCBB5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9E3B-8C36-2354-E74D-9C32CB52F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3113-CAFD-2391-5C17-76121370C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D12AB-02D3-8848-9AA7-973CCD0F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6972" y="188338"/>
            <a:ext cx="7772400" cy="2210733"/>
          </a:xfrm>
        </p:spPr>
        <p:txBody>
          <a:bodyPr>
            <a:noAutofit/>
          </a:bodyPr>
          <a:lstStyle/>
          <a:p>
            <a:r>
              <a:rPr lang="en-US" sz="4400" dirty="0"/>
              <a:t>Federated BERT for Clinical Notes</a:t>
            </a:r>
            <a:br>
              <a:rPr lang="en-US" sz="4400" dirty="0"/>
            </a:br>
            <a:endParaRPr sz="4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0F9A1-61C4-1FAB-62F5-41A96D72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2" descr="Federated Learning Tensorflow Cross Reliable Device Federated Deep Learning">
            <a:extLst>
              <a:ext uri="{FF2B5EF4-FFF2-40B4-BE49-F238E27FC236}">
                <a16:creationId xmlns:a16="http://schemas.microsoft.com/office/drawing/2014/main" id="{29C426FA-69B7-5497-DD09-C540C7941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74"/>
          <a:stretch>
            <a:fillRect/>
          </a:stretch>
        </p:blipFill>
        <p:spPr bwMode="auto">
          <a:xfrm>
            <a:off x="3533268" y="1780068"/>
            <a:ext cx="5419311" cy="481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/>
            </a:pPr>
            <a:r>
              <a:t>What Is Federated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04803"/>
            <a:ext cx="8229600" cy="3255021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sz="2000" dirty="0"/>
              <a:t>Federated learning is a </a:t>
            </a:r>
            <a:r>
              <a:rPr lang="en-US" sz="2000" dirty="0"/>
              <a:t>method for training a single, shared machine learning model across multiple devices or organizations without transferring raw data from</a:t>
            </a:r>
            <a:r>
              <a:rPr sz="2000" dirty="0"/>
              <a:t> those devices.</a:t>
            </a:r>
            <a:endParaRPr lang="en-US" sz="2000" dirty="0"/>
          </a:p>
          <a:p>
            <a:pPr marL="0" indent="0">
              <a:buNone/>
              <a:defRPr sz="1800"/>
            </a:pPr>
            <a:endParaRPr sz="2000" dirty="0"/>
          </a:p>
          <a:p>
            <a:pPr>
              <a:defRPr sz="1800"/>
            </a:pPr>
            <a:r>
              <a:rPr sz="2000" dirty="0"/>
              <a:t>Each </a:t>
            </a:r>
            <a:r>
              <a:rPr lang="en-US" sz="2000" dirty="0"/>
              <a:t>client </a:t>
            </a:r>
            <a:r>
              <a:rPr sz="2000" dirty="0"/>
              <a:t>trains the current global model locally on its own private data and sends only model </a:t>
            </a:r>
            <a:r>
              <a:rPr lang="en-US" sz="2000" dirty="0"/>
              <a:t>updates,</a:t>
            </a:r>
            <a:r>
              <a:rPr sz="2000" dirty="0"/>
              <a:t> such as parameters or gradients.</a:t>
            </a:r>
            <a:endParaRPr lang="en-US" sz="2000" dirty="0"/>
          </a:p>
          <a:p>
            <a:pPr marL="0" indent="0">
              <a:buNone/>
              <a:defRPr sz="1800"/>
            </a:pPr>
            <a:endParaRPr sz="2000" dirty="0"/>
          </a:p>
          <a:p>
            <a:pPr>
              <a:defRPr sz="1800"/>
            </a:pPr>
            <a:r>
              <a:rPr sz="2000" dirty="0"/>
              <a:t>A coordinator or a </a:t>
            </a:r>
            <a:r>
              <a:rPr lang="en-US" sz="2000" dirty="0"/>
              <a:t>decentralized protocol aggregates these updates to enhance the global model while maintaining the privacy of sensitive data.</a:t>
            </a:r>
            <a:endParaRPr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D44A8-D216-9670-E905-19771984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5483-D21F-7734-CD49-EF722EFC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goal and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1F2B-5417-BAB9-4DAB-A8D920A72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Enable collaborative model training across hospitals without sharing raw clinical data. </a:t>
            </a:r>
          </a:p>
          <a:p>
            <a:pPr>
              <a:lnSpc>
                <a:spcPct val="150000"/>
              </a:lnSpc>
            </a:pPr>
            <a:r>
              <a:rPr lang="en-US" dirty="0"/>
              <a:t>Combine </a:t>
            </a:r>
            <a:r>
              <a:rPr lang="en-US" dirty="0" err="1"/>
              <a:t>ClinicalBERT</a:t>
            </a:r>
            <a:r>
              <a:rPr lang="en-US" dirty="0"/>
              <a:t> and Federated Learning (FL) to achieve privacy-preserving NLP in healthcare</a:t>
            </a:r>
          </a:p>
          <a:p>
            <a:pPr>
              <a:lnSpc>
                <a:spcPct val="150000"/>
              </a:lnSpc>
            </a:pPr>
            <a:r>
              <a:rPr lang="en-US" dirty="0"/>
              <a:t>Use selective updates and quantization to reduce communication costs.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0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C63E-AA05-D07B-E47F-F5E40C38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7713-F59C-507C-C731-8CEA92AFD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01957"/>
          </a:xfrm>
        </p:spPr>
        <p:txBody>
          <a:bodyPr>
            <a:normAutofit/>
          </a:bodyPr>
          <a:lstStyle/>
          <a:p>
            <a:r>
              <a:rPr lang="en-US" dirty="0"/>
              <a:t>Clinical data is fragmented across hospitals, with strict privacy regulations (HIPAA, GDPR).</a:t>
            </a:r>
          </a:p>
          <a:p>
            <a:r>
              <a:rPr lang="en-US" dirty="0"/>
              <a:t>Centralized model training requires data sharing, which is often infeasible.</a:t>
            </a:r>
          </a:p>
          <a:p>
            <a:r>
              <a:rPr lang="en-US" dirty="0"/>
              <a:t>Hospitals differ in:</a:t>
            </a:r>
          </a:p>
          <a:p>
            <a:pPr lvl="1"/>
            <a:r>
              <a:rPr lang="en-US" dirty="0"/>
              <a:t>Patient demographics</a:t>
            </a:r>
          </a:p>
          <a:p>
            <a:pPr lvl="1"/>
            <a:r>
              <a:rPr lang="en-US" dirty="0"/>
              <a:t>Documentation styles</a:t>
            </a:r>
          </a:p>
          <a:p>
            <a:pPr lvl="1"/>
            <a:r>
              <a:rPr lang="en-US" dirty="0"/>
              <a:t>Label distributions</a:t>
            </a:r>
          </a:p>
          <a:p>
            <a:r>
              <a:rPr lang="en-US" dirty="0"/>
              <a:t>Need: Collaborative learning without centralizing data, enabling better generalization across institutions.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23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2419-D6C9-2227-BBE8-C6DBD763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A0034-C4F3-3AAD-3D16-019E0641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7999"/>
            <a:ext cx="10515600" cy="3128963"/>
          </a:xfrm>
        </p:spPr>
        <p:txBody>
          <a:bodyPr/>
          <a:lstStyle/>
          <a:p>
            <a:r>
              <a:rPr lang="en-US" dirty="0"/>
              <a:t>Source: </a:t>
            </a:r>
            <a:r>
              <a:rPr lang="en-US" dirty="0" err="1"/>
              <a:t>AGBonnet</a:t>
            </a:r>
            <a:r>
              <a:rPr lang="en-US" dirty="0"/>
              <a:t> / Augmented </a:t>
            </a:r>
          </a:p>
          <a:p>
            <a:r>
              <a:rPr lang="en-US" dirty="0"/>
              <a:t>Clinical Notes (</a:t>
            </a:r>
            <a:r>
              <a:rPr lang="en-US" dirty="0" err="1"/>
              <a:t>HuggingFace</a:t>
            </a:r>
            <a:r>
              <a:rPr lang="en-US" dirty="0"/>
              <a:t>)Size: 30,000 clinical note triplets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2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65C0-311E-3684-C335-097E528B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810AD-2C62-6655-8C6E-9C68DCB61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Peer to Peer Federated Learning architecture (Decentralized).</a:t>
            </a:r>
          </a:p>
          <a:p>
            <a:endParaRPr lang="en-US" dirty="0"/>
          </a:p>
          <a:p>
            <a:r>
              <a:rPr lang="en-US" dirty="0"/>
              <a:t>Local Training: Each client fine tunes BERT on private clinical notes.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Aggregation : Peers combine neighbor updates with weighted averaging – global convergence without raw data sharing.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0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sease classification&#10;&#10;AI-generated content may be incorrect.">
            <a:extLst>
              <a:ext uri="{FF2B5EF4-FFF2-40B4-BE49-F238E27FC236}">
                <a16:creationId xmlns:a16="http://schemas.microsoft.com/office/drawing/2014/main" id="{1278D124-FD94-6564-2157-DEB78C51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649" y="580592"/>
            <a:ext cx="7772400" cy="569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13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CA37-F91C-6364-4C7E-808A47820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27C6D-59DA-CB48-C397-29541576E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Training - Hospitals fine-tune BERT on private notes (no raw data leaves site).</a:t>
            </a:r>
          </a:p>
          <a:p>
            <a:r>
              <a:rPr lang="en-US" dirty="0"/>
              <a:t>Selective Updates – Share only critical layers(last encoder block and classifier head). Cuts down communication.</a:t>
            </a:r>
          </a:p>
          <a:p>
            <a:r>
              <a:rPr lang="en-US" dirty="0"/>
              <a:t>Pruning – Removes low impact weights. Keeps essential signal and reduces payload.</a:t>
            </a:r>
          </a:p>
          <a:p>
            <a:r>
              <a:rPr lang="en-US" dirty="0"/>
              <a:t>Quantization – Idea is to convert FP32 -&gt; INT8/INT4.</a:t>
            </a:r>
          </a:p>
          <a:p>
            <a:r>
              <a:rPr lang="en-US" dirty="0"/>
              <a:t>Aggregate + Model Update – Weighted average of peer update and integrate new weights to local BERT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677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tructure&#10;&#10;AI-generated content may be incorrect.">
            <a:extLst>
              <a:ext uri="{FF2B5EF4-FFF2-40B4-BE49-F238E27FC236}">
                <a16:creationId xmlns:a16="http://schemas.microsoft.com/office/drawing/2014/main" id="{6A4B6AAD-CD1D-F6C4-B5E7-BE124F12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123" y="594466"/>
            <a:ext cx="7772400" cy="579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18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394D-2B07-D62A-CBA1-20822AA6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0552"/>
          </a:xfrm>
        </p:spPr>
        <p:txBody>
          <a:bodyPr/>
          <a:lstStyle/>
          <a:p>
            <a:r>
              <a:rPr lang="en-US" dirty="0" err="1"/>
              <a:t>ClinicalBERT</a:t>
            </a:r>
            <a:r>
              <a:rPr lang="en-US" dirty="0"/>
              <a:t> Model Architecture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98B894-4E67-2448-E247-9878B9F88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89918"/>
            <a:ext cx="80887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Base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emilyalsentzer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Bio_ClinicalBERT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pretrained on MIMIC-III notes.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Architecture summary: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 Transformer encoder layers, hidden size 768.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WordPiece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tokenizer with [CLS] and [SEP] tokens.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[CLS] embedding → Dense layer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over 13 disease classes.</a:t>
            </a:r>
          </a:p>
          <a:p>
            <a:pPr>
              <a:lnSpc>
                <a:spcPct val="100000"/>
              </a:lnSpc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Fine-tuning strategy: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Freeze lower encoder layers.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 classifier head and top encoder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Loss Function: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Cross-Entropy (class-weighted for imbalance).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475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7875-EBA1-63C5-4A0E-74C60E80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Data and Pre-processing Pipeline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B6EA66-967D-E2D9-13B6-F1C40E128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3666" y="1487307"/>
            <a:ext cx="891736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De-identified clinical notes with fields</a:t>
            </a:r>
            <a:r>
              <a:rPr lang="en-US" altLang="en-US" sz="1800" dirty="0"/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(patient ID),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full_note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(text), label (disease type).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Steps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Robust file reading, text normalization, deduplication.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Map disease labels to integer classes (13 total, including “no disease”).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GroupShuffleSplit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ensure same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 in train/test.</a:t>
            </a:r>
          </a:p>
          <a:p>
            <a:pPr lvl="1">
              <a:lnSpc>
                <a:spcPct val="100000"/>
              </a:lnSpc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80% training, 20%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Imbalance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Class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Weightsa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Accuracy, Macro-F1, and loss across federated rounds.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86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3931-FF87-7974-AAF5-10437371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Even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9F57E8-6C21-8A47-9AFE-91E6CDADD3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6"/>
            <a:ext cx="805868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Setup: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 hospitals with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equal data size and balanced label distribution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Federated rounds = 10, local epochs = 10, batch size = 16.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Compression: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Start pruning from round 8 (keep 80% → 60% weights).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Quantize to INT8 for communication efficiency.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Establish clean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i.i.d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baseline to isolate federated optimization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82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354E-F02E-E4B9-8E9A-FC1434E8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Uneven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2F6DA7-34BF-A74C-6BF6-229220C309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7"/>
            <a:ext cx="801533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Setup: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5 hospitals with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Dirichlet α = 0.3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label distribution → strongly non-IID.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client has different class imbalance and data volume.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Federated rounds = 10, local epochs = 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Model training: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Fine-tune classifier + first 4 BERT layers; rest frozen.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Enable pruning after round 8 (≈30% sparsity).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Simulate realistic hospital heterogeneity.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Metrics tracked: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Loss, accuracy, macro-F1, sparsity, communication cost.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86AF-C637-363A-2AC9-75CDC62D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for Uneven Splits</a:t>
            </a:r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0BA167AF-4933-01CE-637D-152376AD2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2113" y="1825625"/>
            <a:ext cx="8167773" cy="4351338"/>
          </a:xfrm>
        </p:spPr>
      </p:pic>
    </p:spTree>
    <p:extLst>
      <p:ext uri="{BB962C8B-B14F-4D97-AF65-F5344CB8AC3E}">
        <p14:creationId xmlns:p14="http://schemas.microsoft.com/office/powerpoint/2010/main" val="181961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CA765-D7AE-157E-CB66-4DD6C7E71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comparison ( so far)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ABE55F-0951-2B6D-84C3-0679CD45C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062891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984197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956367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2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Accuracy: 76.50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Accuracy: 73.75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95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 Score: 0.7285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F1 Score: 0.6915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56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Loss: 0.0575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Loss: 1.3560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13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21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76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681</Words>
  <Application>Microsoft Macintosh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Federated BERT for Clinical Notes </vt:lpstr>
      <vt:lpstr>What Is Federated Learning?</vt:lpstr>
      <vt:lpstr>Research goal and Core Idea</vt:lpstr>
      <vt:lpstr>Motivation</vt:lpstr>
      <vt:lpstr>Dataset</vt:lpstr>
      <vt:lpstr>Architecture</vt:lpstr>
      <vt:lpstr>PowerPoint Presentation</vt:lpstr>
      <vt:lpstr>Workflow</vt:lpstr>
      <vt:lpstr>PowerPoint Presentation</vt:lpstr>
      <vt:lpstr>ClinicalBERT Model Architecture</vt:lpstr>
      <vt:lpstr>Data and Pre-processing Pipeline </vt:lpstr>
      <vt:lpstr>Experiment 1: Even Distribution</vt:lpstr>
      <vt:lpstr>Experiment 2: Uneven Distribution</vt:lpstr>
      <vt:lpstr>Data Distribution for Uneven Splits</vt:lpstr>
      <vt:lpstr>Results and comparison ( so far)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Venkatesh, Prajwal Venkat</dc:creator>
  <cp:lastModifiedBy>Venkatesh, Prajwal Venkat</cp:lastModifiedBy>
  <cp:revision>4</cp:revision>
  <dcterms:created xsi:type="dcterms:W3CDTF">2025-11-19T18:11:15Z</dcterms:created>
  <dcterms:modified xsi:type="dcterms:W3CDTF">2025-11-19T19:12:51Z</dcterms:modified>
</cp:coreProperties>
</file>